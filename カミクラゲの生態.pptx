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2FF"/>
          </a:solidFill>
          <a:ln/>
        </p:spPr>
      </p:sp>
      <p:sp>
        <p:nvSpPr>
          <p:cNvPr id="3" name="Shape 1"/>
          <p:cNvSpPr/>
          <p:nvPr/>
        </p:nvSpPr>
        <p:spPr>
          <a:xfrm>
            <a:off x="0" y="0"/>
            <a:ext cx="12191695" cy="137160"/>
          </a:xfrm>
          <a:prstGeom prst="rect">
            <a:avLst/>
          </a:prstGeom>
          <a:solidFill>
            <a:srgbClr val="4F46E5"/>
          </a:solidFill>
          <a:ln/>
        </p:spPr>
      </p:sp>
      <p:sp>
        <p:nvSpPr>
          <p:cNvPr id="4" name="Text 2"/>
          <p:cNvSpPr/>
          <p:nvPr/>
        </p:nvSpPr>
        <p:spPr>
          <a:xfrm>
            <a:off x="5638648" y="1463040"/>
            <a:ext cx="914400" cy="91440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914400" y="2560320"/>
            <a:ext cx="10362895" cy="1371600"/>
          </a:xfrm>
          <a:prstGeom prst="rect">
            <a:avLst/>
          </a:prstGeom>
          <a:noFill/>
          <a:ln/>
        </p:spPr>
        <p:txBody>
          <a:bodyPr wrap="square" rtlCol="0" anchor="ctr"/>
          <a:lstStyle/>
          <a:p>
            <a:pPr algn="ctr" indent="0" marL="0">
              <a:buNone/>
            </a:pPr>
            <a:r>
              <a:rPr lang="en-US" sz="4800" b="1" dirty="0">
                <a:solidFill>
                  <a:srgbClr val="111827"/>
                </a:solidFill>
              </a:rPr>
              <a:t>カミクラゲの生態</a:t>
            </a:r>
            <a:endParaRPr lang="en-US" sz="4800" dirty="0"/>
          </a:p>
        </p:txBody>
      </p:sp>
      <p:sp>
        <p:nvSpPr>
          <p:cNvPr id="6" name="Text 4"/>
          <p:cNvSpPr/>
          <p:nvPr/>
        </p:nvSpPr>
        <p:spPr>
          <a:xfrm>
            <a:off x="1371600" y="4023360"/>
            <a:ext cx="9448495" cy="731520"/>
          </a:xfrm>
          <a:prstGeom prst="rect">
            <a:avLst/>
          </a:prstGeom>
          <a:noFill/>
          <a:ln/>
        </p:spPr>
        <p:txBody>
          <a:bodyPr wrap="square" rtlCol="0" anchor="t"/>
          <a:lstStyle/>
          <a:p>
            <a:pPr algn="ctr" indent="0" marL="0">
              <a:buNone/>
            </a:pPr>
            <a:r>
              <a:rPr lang="en-US" sz="2000" dirty="0">
                <a:solidFill>
                  <a:srgbClr val="6B7280"/>
                </a:solidFill>
              </a:rPr>
              <a:t>春を告げる「髪のクラゲ」― 独特のにおいと優しい外見の秘密</a:t>
            </a:r>
            <a:endParaRPr lang="en-US" sz="2000" dirty="0"/>
          </a:p>
        </p:txBody>
      </p:sp>
      <p:sp>
        <p:nvSpPr>
          <p:cNvPr id="7" name="Shape 5"/>
          <p:cNvSpPr/>
          <p:nvPr/>
        </p:nvSpPr>
        <p:spPr>
          <a:xfrm>
            <a:off x="2743200" y="5120640"/>
            <a:ext cx="6705295" cy="18288"/>
          </a:xfrm>
          <a:prstGeom prst="rect">
            <a:avLst/>
          </a:prstGeom>
          <a:solidFill>
            <a:srgbClr val="C7D2FE"/>
          </a:solidFill>
          <a:ln/>
        </p:spPr>
      </p:sp>
      <p:sp>
        <p:nvSpPr>
          <p:cNvPr id="8" name="Text 6"/>
          <p:cNvSpPr/>
          <p:nvPr/>
        </p:nvSpPr>
        <p:spPr>
          <a:xfrm>
            <a:off x="4724248" y="6217920"/>
            <a:ext cx="2743200" cy="320040"/>
          </a:xfrm>
          <a:prstGeom prst="rect">
            <a:avLst/>
          </a:prstGeom>
          <a:noFill/>
          <a:ln/>
        </p:spPr>
        <p:txBody>
          <a:bodyPr wrap="square" rtlCol="0" anchor="ctr"/>
          <a:lstStyle/>
          <a:p>
            <a:pPr algn="ctr" indent="0" marL="0">
              <a:buNone/>
            </a:pPr>
            <a:r>
              <a:rPr lang="en-US" sz="1000" dirty="0">
                <a:solidFill>
                  <a:srgbClr val="4F46E5"/>
                </a:solidFill>
              </a:rPr>
              <a:t>AI Generated Presentation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914400"/>
          </a:xfrm>
          <a:prstGeom prst="rect">
            <a:avLst/>
          </a:prstGeom>
          <a:solidFill>
            <a:srgbClr val="0D4F6F"/>
          </a:solidFill>
          <a:ln/>
        </p:spPr>
      </p:sp>
      <p:sp>
        <p:nvSpPr>
          <p:cNvPr id="4" name="Text 2"/>
          <p:cNvSpPr/>
          <p:nvPr/>
        </p:nvSpPr>
        <p:spPr>
          <a:xfrm>
            <a:off x="457200" y="182880"/>
            <a:ext cx="548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5" name="Text 3"/>
          <p:cNvSpPr/>
          <p:nvPr/>
        </p:nvSpPr>
        <p:spPr>
          <a:xfrm>
            <a:off x="1097280" y="137160"/>
            <a:ext cx="9905695" cy="640080"/>
          </a:xfrm>
          <a:prstGeom prst="rect">
            <a:avLst/>
          </a:prstGeom>
          <a:noFill/>
          <a:ln/>
        </p:spPr>
        <p:txBody>
          <a:bodyPr wrap="square" rtlCol="0" anchor="ctr"/>
          <a:lstStyle/>
          <a:p>
            <a:pPr indent="0" marL="0">
              <a:buNone/>
            </a:pPr>
            <a:r>
              <a:rPr lang="en-US" sz="2800" b="1" dirty="0">
                <a:solidFill>
                  <a:srgbClr val="FFFFFF"/>
                </a:solidFill>
              </a:rPr>
              <a:t>カミクラゲの特徴</a:t>
            </a:r>
            <a:endParaRPr lang="en-US" sz="2800" dirty="0"/>
          </a:p>
        </p:txBody>
      </p:sp>
      <p:sp>
        <p:nvSpPr>
          <p:cNvPr id="6" name="Shape 4"/>
          <p:cNvSpPr/>
          <p:nvPr/>
        </p:nvSpPr>
        <p:spPr>
          <a:xfrm>
            <a:off x="11460175" y="228600"/>
            <a:ext cx="457200" cy="457200"/>
          </a:xfrm>
          <a:prstGeom prst="ellipse">
            <a:avLst/>
          </a:prstGeom>
          <a:solidFill>
            <a:srgbClr val="FFFFFF"/>
          </a:solidFill>
          <a:ln/>
        </p:spPr>
      </p:sp>
      <p:sp>
        <p:nvSpPr>
          <p:cNvPr id="7" name="Text 5"/>
          <p:cNvSpPr/>
          <p:nvPr/>
        </p:nvSpPr>
        <p:spPr>
          <a:xfrm>
            <a:off x="11460175" y="228600"/>
            <a:ext cx="457200" cy="457200"/>
          </a:xfrm>
          <a:prstGeom prst="rect">
            <a:avLst/>
          </a:prstGeom>
          <a:noFill/>
          <a:ln/>
        </p:spPr>
        <p:txBody>
          <a:bodyPr wrap="square" rtlCol="0" anchor="ctr"/>
          <a:lstStyle/>
          <a:p>
            <a:pPr algn="ctr" indent="0" marL="0">
              <a:buNone/>
            </a:pPr>
            <a:r>
              <a:rPr lang="en-US" sz="1400" b="1" dirty="0">
                <a:solidFill>
                  <a:srgbClr val="0D4F6F"/>
                </a:solidFill>
              </a:rPr>
              <a:t>2</a:t>
            </a:r>
            <a:endParaRPr lang="en-US" sz="1400" dirty="0"/>
          </a:p>
        </p:txBody>
      </p:sp>
      <p:sp>
        <p:nvSpPr>
          <p:cNvPr id="8" name="Shape 6"/>
          <p:cNvSpPr/>
          <p:nvPr/>
        </p:nvSpPr>
        <p:spPr>
          <a:xfrm>
            <a:off x="585216" y="1408176"/>
            <a:ext cx="3566160" cy="3474720"/>
          </a:xfrm>
          <a:prstGeom prst="rect">
            <a:avLst/>
          </a:prstGeom>
          <a:solidFill>
            <a:srgbClr val="E5E7EB"/>
          </a:solidFill>
          <a:ln/>
        </p:spPr>
      </p:sp>
      <p:sp>
        <p:nvSpPr>
          <p:cNvPr id="9" name="Shape 7"/>
          <p:cNvSpPr/>
          <p:nvPr/>
        </p:nvSpPr>
        <p:spPr>
          <a:xfrm>
            <a:off x="548640" y="1371600"/>
            <a:ext cx="3566160" cy="3474720"/>
          </a:xfrm>
          <a:prstGeom prst="rect">
            <a:avLst/>
          </a:prstGeom>
          <a:solidFill>
            <a:srgbClr val="FFFFFF"/>
          </a:solidFill>
          <a:ln w="12700">
            <a:solidFill>
              <a:srgbClr val="E5E7EB"/>
            </a:solidFill>
            <a:prstDash val="solid"/>
          </a:ln>
        </p:spPr>
      </p:sp>
      <p:sp>
        <p:nvSpPr>
          <p:cNvPr id="10" name="Shape 8"/>
          <p:cNvSpPr/>
          <p:nvPr/>
        </p:nvSpPr>
        <p:spPr>
          <a:xfrm>
            <a:off x="548640" y="1371600"/>
            <a:ext cx="109728" cy="3474720"/>
          </a:xfrm>
          <a:prstGeom prst="rect">
            <a:avLst/>
          </a:prstGeom>
          <a:solidFill>
            <a:srgbClr val="F4A261"/>
          </a:solidFill>
          <a:ln/>
        </p:spPr>
      </p:sp>
      <p:sp>
        <p:nvSpPr>
          <p:cNvPr id="11" name="Shape 9"/>
          <p:cNvSpPr/>
          <p:nvPr/>
        </p:nvSpPr>
        <p:spPr>
          <a:xfrm>
            <a:off x="914400" y="1737360"/>
            <a:ext cx="640080" cy="640080"/>
          </a:xfrm>
          <a:prstGeom prst="ellipse">
            <a:avLst/>
          </a:prstGeom>
          <a:solidFill>
            <a:srgbClr val="F9FAFB"/>
          </a:solidFill>
          <a:ln/>
        </p:spPr>
      </p:sp>
      <p:sp>
        <p:nvSpPr>
          <p:cNvPr id="12" name="Text 10"/>
          <p:cNvSpPr/>
          <p:nvPr/>
        </p:nvSpPr>
        <p:spPr>
          <a:xfrm>
            <a:off x="914400" y="17373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1737360" y="1783080"/>
            <a:ext cx="2103120" cy="457200"/>
          </a:xfrm>
          <a:prstGeom prst="rect">
            <a:avLst/>
          </a:prstGeom>
          <a:noFill/>
          <a:ln/>
        </p:spPr>
        <p:txBody>
          <a:bodyPr wrap="square" rtlCol="0" anchor="ctr"/>
          <a:lstStyle/>
          <a:p>
            <a:pPr indent="0" marL="0">
              <a:buNone/>
            </a:pPr>
            <a:r>
              <a:rPr lang="en-US" sz="1800" b="1" dirty="0">
                <a:solidFill>
                  <a:srgbClr val="111827"/>
                </a:solidFill>
              </a:rPr>
              <a:t>名前の由来</a:t>
            </a:r>
            <a:endParaRPr lang="en-US" sz="1800" dirty="0"/>
          </a:p>
        </p:txBody>
      </p:sp>
      <p:sp>
        <p:nvSpPr>
          <p:cNvPr id="14" name="Text 12"/>
          <p:cNvSpPr/>
          <p:nvPr/>
        </p:nvSpPr>
        <p:spPr>
          <a:xfrm>
            <a:off x="868680" y="2651760"/>
            <a:ext cx="3017520" cy="1828800"/>
          </a:xfrm>
          <a:prstGeom prst="rect">
            <a:avLst/>
          </a:prstGeom>
          <a:noFill/>
          <a:ln/>
        </p:spPr>
        <p:txBody>
          <a:bodyPr wrap="square" rtlCol="0" anchor="t"/>
          <a:lstStyle/>
          <a:p>
            <a:pPr indent="0" marL="0">
              <a:lnSpc>
                <a:spcPct val="140000"/>
              </a:lnSpc>
              <a:buNone/>
            </a:pPr>
            <a:r>
              <a:rPr lang="en-US" sz="1400" dirty="0">
                <a:solidFill>
                  <a:srgbClr val="6B7280"/>
                </a:solidFill>
              </a:rPr>
              <a:t>傘の端から生えている触手が髪の毛のように見えるため「カミクラゲ」と名付けられました。</a:t>
            </a:r>
            <a:endParaRPr lang="en-US" sz="1400" dirty="0"/>
          </a:p>
        </p:txBody>
      </p:sp>
      <p:sp>
        <p:nvSpPr>
          <p:cNvPr id="15" name="Shape 13"/>
          <p:cNvSpPr/>
          <p:nvPr/>
        </p:nvSpPr>
        <p:spPr>
          <a:xfrm>
            <a:off x="4562856" y="1408176"/>
            <a:ext cx="3566160" cy="3474720"/>
          </a:xfrm>
          <a:prstGeom prst="rect">
            <a:avLst/>
          </a:prstGeom>
          <a:solidFill>
            <a:srgbClr val="E5E7EB"/>
          </a:solidFill>
          <a:ln/>
        </p:spPr>
      </p:sp>
      <p:sp>
        <p:nvSpPr>
          <p:cNvPr id="16" name="Shape 14"/>
          <p:cNvSpPr/>
          <p:nvPr/>
        </p:nvSpPr>
        <p:spPr>
          <a:xfrm>
            <a:off x="4526280" y="1371600"/>
            <a:ext cx="3566160" cy="3474720"/>
          </a:xfrm>
          <a:prstGeom prst="rect">
            <a:avLst/>
          </a:prstGeom>
          <a:solidFill>
            <a:srgbClr val="FFFFFF"/>
          </a:solidFill>
          <a:ln w="12700">
            <a:solidFill>
              <a:srgbClr val="E5E7EB"/>
            </a:solidFill>
            <a:prstDash val="solid"/>
          </a:ln>
        </p:spPr>
      </p:sp>
      <p:sp>
        <p:nvSpPr>
          <p:cNvPr id="17" name="Shape 15"/>
          <p:cNvSpPr/>
          <p:nvPr/>
        </p:nvSpPr>
        <p:spPr>
          <a:xfrm>
            <a:off x="4526280" y="1371600"/>
            <a:ext cx="109728" cy="3474720"/>
          </a:xfrm>
          <a:prstGeom prst="rect">
            <a:avLst/>
          </a:prstGeom>
          <a:solidFill>
            <a:srgbClr val="6BB8C9"/>
          </a:solidFill>
          <a:ln/>
        </p:spPr>
      </p:sp>
      <p:sp>
        <p:nvSpPr>
          <p:cNvPr id="18" name="Shape 16"/>
          <p:cNvSpPr/>
          <p:nvPr/>
        </p:nvSpPr>
        <p:spPr>
          <a:xfrm>
            <a:off x="4892040" y="1737360"/>
            <a:ext cx="640080" cy="640080"/>
          </a:xfrm>
          <a:prstGeom prst="ellipse">
            <a:avLst/>
          </a:prstGeom>
          <a:solidFill>
            <a:srgbClr val="F9FAFB"/>
          </a:solidFill>
          <a:ln/>
        </p:spPr>
      </p:sp>
      <p:sp>
        <p:nvSpPr>
          <p:cNvPr id="19" name="Text 17"/>
          <p:cNvSpPr/>
          <p:nvPr/>
        </p:nvSpPr>
        <p:spPr>
          <a:xfrm>
            <a:off x="4892040" y="17373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0" name="Text 18"/>
          <p:cNvSpPr/>
          <p:nvPr/>
        </p:nvSpPr>
        <p:spPr>
          <a:xfrm>
            <a:off x="5715000" y="1783080"/>
            <a:ext cx="2103120" cy="457200"/>
          </a:xfrm>
          <a:prstGeom prst="rect">
            <a:avLst/>
          </a:prstGeom>
          <a:noFill/>
          <a:ln/>
        </p:spPr>
        <p:txBody>
          <a:bodyPr wrap="square" rtlCol="0" anchor="ctr"/>
          <a:lstStyle/>
          <a:p>
            <a:pPr indent="0" marL="0">
              <a:buNone/>
            </a:pPr>
            <a:r>
              <a:rPr lang="en-US" sz="1800" b="1" dirty="0">
                <a:solidFill>
                  <a:srgbClr val="111827"/>
                </a:solidFill>
              </a:rPr>
              <a:t>生息域</a:t>
            </a:r>
            <a:endParaRPr lang="en-US" sz="1800" dirty="0"/>
          </a:p>
        </p:txBody>
      </p:sp>
      <p:sp>
        <p:nvSpPr>
          <p:cNvPr id="21" name="Text 19"/>
          <p:cNvSpPr/>
          <p:nvPr/>
        </p:nvSpPr>
        <p:spPr>
          <a:xfrm>
            <a:off x="4846320" y="2651760"/>
            <a:ext cx="3017520" cy="1828800"/>
          </a:xfrm>
          <a:prstGeom prst="rect">
            <a:avLst/>
          </a:prstGeom>
          <a:noFill/>
          <a:ln/>
        </p:spPr>
        <p:txBody>
          <a:bodyPr wrap="square" rtlCol="0" anchor="t"/>
          <a:lstStyle/>
          <a:p>
            <a:pPr indent="0" marL="0">
              <a:lnSpc>
                <a:spcPct val="140000"/>
              </a:lnSpc>
              <a:buNone/>
            </a:pPr>
            <a:r>
              <a:rPr lang="en-US" sz="1400" dirty="0">
                <a:solidFill>
                  <a:srgbClr val="6B7280"/>
                </a:solidFill>
              </a:rPr>
              <a:t>日本と韓国の沿岸海域に生息し、東京湾では1月から5月に現れます。</a:t>
            </a:r>
            <a:endParaRPr lang="en-US" sz="1400" dirty="0"/>
          </a:p>
        </p:txBody>
      </p:sp>
      <p:sp>
        <p:nvSpPr>
          <p:cNvPr id="22" name="Shape 20"/>
          <p:cNvSpPr/>
          <p:nvPr/>
        </p:nvSpPr>
        <p:spPr>
          <a:xfrm>
            <a:off x="8540496" y="1408176"/>
            <a:ext cx="3566160" cy="3474720"/>
          </a:xfrm>
          <a:prstGeom prst="rect">
            <a:avLst/>
          </a:prstGeom>
          <a:solidFill>
            <a:srgbClr val="E5E7EB"/>
          </a:solidFill>
          <a:ln/>
        </p:spPr>
      </p:sp>
      <p:sp>
        <p:nvSpPr>
          <p:cNvPr id="23" name="Shape 21"/>
          <p:cNvSpPr/>
          <p:nvPr/>
        </p:nvSpPr>
        <p:spPr>
          <a:xfrm>
            <a:off x="8503920" y="1371600"/>
            <a:ext cx="3566160" cy="3474720"/>
          </a:xfrm>
          <a:prstGeom prst="rect">
            <a:avLst/>
          </a:prstGeom>
          <a:solidFill>
            <a:srgbClr val="FFFFFF"/>
          </a:solidFill>
          <a:ln w="12700">
            <a:solidFill>
              <a:srgbClr val="E5E7EB"/>
            </a:solidFill>
            <a:prstDash val="solid"/>
          </a:ln>
        </p:spPr>
      </p:sp>
      <p:sp>
        <p:nvSpPr>
          <p:cNvPr id="24" name="Shape 22"/>
          <p:cNvSpPr/>
          <p:nvPr/>
        </p:nvSpPr>
        <p:spPr>
          <a:xfrm>
            <a:off x="8503920" y="1371600"/>
            <a:ext cx="109728" cy="3474720"/>
          </a:xfrm>
          <a:prstGeom prst="rect">
            <a:avLst/>
          </a:prstGeom>
          <a:solidFill>
            <a:srgbClr val="10B981"/>
          </a:solidFill>
          <a:ln/>
        </p:spPr>
      </p:sp>
      <p:sp>
        <p:nvSpPr>
          <p:cNvPr id="25" name="Shape 23"/>
          <p:cNvSpPr/>
          <p:nvPr/>
        </p:nvSpPr>
        <p:spPr>
          <a:xfrm>
            <a:off x="8869680" y="1737360"/>
            <a:ext cx="640080" cy="640080"/>
          </a:xfrm>
          <a:prstGeom prst="ellipse">
            <a:avLst/>
          </a:prstGeom>
          <a:solidFill>
            <a:srgbClr val="F9FAFB"/>
          </a:solidFill>
          <a:ln/>
        </p:spPr>
      </p:sp>
      <p:sp>
        <p:nvSpPr>
          <p:cNvPr id="26" name="Text 24"/>
          <p:cNvSpPr/>
          <p:nvPr/>
        </p:nvSpPr>
        <p:spPr>
          <a:xfrm>
            <a:off x="8869680" y="17373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7" name="Text 25"/>
          <p:cNvSpPr/>
          <p:nvPr/>
        </p:nvSpPr>
        <p:spPr>
          <a:xfrm>
            <a:off x="9692640" y="1783080"/>
            <a:ext cx="2103120" cy="457200"/>
          </a:xfrm>
          <a:prstGeom prst="rect">
            <a:avLst/>
          </a:prstGeom>
          <a:noFill/>
          <a:ln/>
        </p:spPr>
        <p:txBody>
          <a:bodyPr wrap="square" rtlCol="0" anchor="ctr"/>
          <a:lstStyle/>
          <a:p>
            <a:pPr indent="0" marL="0">
              <a:buNone/>
            </a:pPr>
            <a:r>
              <a:rPr lang="en-US" sz="1800" b="1" dirty="0">
                <a:solidFill>
                  <a:srgbClr val="111827"/>
                </a:solidFill>
              </a:rPr>
              <a:t>安全性</a:t>
            </a:r>
            <a:endParaRPr lang="en-US" sz="1800" dirty="0"/>
          </a:p>
        </p:txBody>
      </p:sp>
      <p:sp>
        <p:nvSpPr>
          <p:cNvPr id="28" name="Text 26"/>
          <p:cNvSpPr/>
          <p:nvPr/>
        </p:nvSpPr>
        <p:spPr>
          <a:xfrm>
            <a:off x="8823960" y="2651760"/>
            <a:ext cx="3017520" cy="1828800"/>
          </a:xfrm>
          <a:prstGeom prst="rect">
            <a:avLst/>
          </a:prstGeom>
          <a:noFill/>
          <a:ln/>
        </p:spPr>
        <p:txBody>
          <a:bodyPr wrap="square" rtlCol="0" anchor="t"/>
          <a:lstStyle/>
          <a:p>
            <a:pPr indent="0" marL="0">
              <a:lnSpc>
                <a:spcPct val="140000"/>
              </a:lnSpc>
              <a:buNone/>
            </a:pPr>
            <a:r>
              <a:rPr lang="en-US" sz="1400" dirty="0">
                <a:solidFill>
                  <a:srgbClr val="6B7280"/>
                </a:solidFill>
              </a:rPr>
              <a:t>比較的刺傷被害の報告がないため、安全なクラゲとして知られています。</a:t>
            </a:r>
            <a:endParaRPr lang="en-US" sz="1400" dirty="0"/>
          </a:p>
        </p:txBody>
      </p:sp>
      <p:sp>
        <p:nvSpPr>
          <p:cNvPr id="29" name="Shape 27"/>
          <p:cNvSpPr/>
          <p:nvPr/>
        </p:nvSpPr>
        <p:spPr>
          <a:xfrm>
            <a:off x="548640" y="5303520"/>
            <a:ext cx="11094415" cy="731520"/>
          </a:xfrm>
          <a:prstGeom prst="roundRect">
            <a:avLst/>
          </a:prstGeom>
          <a:solidFill>
            <a:srgbClr val="EEF2FF"/>
          </a:solidFill>
          <a:ln w="12700">
            <a:solidFill>
              <a:srgbClr val="C7D2FE"/>
            </a:solidFill>
            <a:prstDash val="solid"/>
          </a:ln>
        </p:spPr>
      </p:sp>
      <p:sp>
        <p:nvSpPr>
          <p:cNvPr id="30" name="Text 28"/>
          <p:cNvSpPr/>
          <p:nvPr/>
        </p:nvSpPr>
        <p:spPr>
          <a:xfrm>
            <a:off x="731520" y="5394960"/>
            <a:ext cx="10820095" cy="548640"/>
          </a:xfrm>
          <a:prstGeom prst="rect">
            <a:avLst/>
          </a:prstGeom>
          <a:noFill/>
          <a:ln/>
        </p:spPr>
        <p:txBody>
          <a:bodyPr wrap="square" rtlCol="0" anchor="ctr"/>
          <a:lstStyle/>
          <a:p>
            <a:pPr indent="0" marL="0">
              <a:buNone/>
            </a:pPr>
            <a:r>
              <a:rPr lang="en-US" sz="1200" dirty="0">
                <a:solidFill>
                  <a:srgbClr val="3730A3"/>
                </a:solidFill>
              </a:rPr>
              <a:t>💡 カミクラゲは髪のような触手を持ち、日本近海に春に現れる安全なクラゲです。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73152" cy="6858000"/>
          </a:xfrm>
          <a:prstGeom prst="rect">
            <a:avLst/>
          </a:prstGeom>
          <a:solidFill>
            <a:srgbClr val="10B981"/>
          </a:solidFill>
          <a:ln/>
        </p:spPr>
      </p:sp>
      <p:sp>
        <p:nvSpPr>
          <p:cNvPr id="4" name="Shape 2"/>
          <p:cNvSpPr/>
          <p:nvPr/>
        </p:nvSpPr>
        <p:spPr>
          <a:xfrm>
            <a:off x="0" y="0"/>
            <a:ext cx="12191695" cy="73152"/>
          </a:xfrm>
          <a:prstGeom prst="rect">
            <a:avLst/>
          </a:prstGeom>
          <a:solidFill>
            <a:srgbClr val="10B981"/>
          </a:solidFill>
          <a:ln/>
        </p:spPr>
      </p:sp>
      <p:sp>
        <p:nvSpPr>
          <p:cNvPr id="5" name="Shape 3"/>
          <p:cNvSpPr/>
          <p:nvPr/>
        </p:nvSpPr>
        <p:spPr>
          <a:xfrm>
            <a:off x="457200" y="320040"/>
            <a:ext cx="548640" cy="548640"/>
          </a:xfrm>
          <a:prstGeom prst="roundRect">
            <a:avLst/>
          </a:prstGeom>
          <a:solidFill>
            <a:srgbClr val="D1FAE5"/>
          </a:solidFill>
          <a:ln w="12700">
            <a:solidFill>
              <a:srgbClr val="10B981"/>
            </a:solidFill>
            <a:prstDash val="solid"/>
          </a:ln>
        </p:spPr>
      </p:sp>
      <p:sp>
        <p:nvSpPr>
          <p:cNvPr id="6" name="Text 4"/>
          <p:cNvSpPr/>
          <p:nvPr/>
        </p:nvSpPr>
        <p:spPr>
          <a:xfrm>
            <a:off x="457200" y="365760"/>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Shape 5"/>
          <p:cNvSpPr/>
          <p:nvPr/>
        </p:nvSpPr>
        <p:spPr>
          <a:xfrm>
            <a:off x="11460175" y="320040"/>
            <a:ext cx="457200" cy="457200"/>
          </a:xfrm>
          <a:prstGeom prst="ellipse">
            <a:avLst/>
          </a:prstGeom>
          <a:solidFill>
            <a:srgbClr val="10B981"/>
          </a:solidFill>
          <a:ln/>
        </p:spPr>
      </p:sp>
      <p:sp>
        <p:nvSpPr>
          <p:cNvPr id="8" name="Text 6"/>
          <p:cNvSpPr/>
          <p:nvPr/>
        </p:nvSpPr>
        <p:spPr>
          <a:xfrm>
            <a:off x="11460175" y="320040"/>
            <a:ext cx="457200" cy="45720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9" name="Text 7"/>
          <p:cNvSpPr/>
          <p:nvPr/>
        </p:nvSpPr>
        <p:spPr>
          <a:xfrm>
            <a:off x="1097280" y="274320"/>
            <a:ext cx="9905695" cy="685800"/>
          </a:xfrm>
          <a:prstGeom prst="rect">
            <a:avLst/>
          </a:prstGeom>
          <a:noFill/>
          <a:ln/>
        </p:spPr>
        <p:txBody>
          <a:bodyPr wrap="square" rtlCol="0" anchor="ctr"/>
          <a:lstStyle/>
          <a:p>
            <a:pPr indent="0" marL="0">
              <a:buNone/>
            </a:pPr>
            <a:r>
              <a:rPr lang="en-US" sz="2800" b="1" dirty="0">
                <a:solidFill>
                  <a:srgbClr val="111827"/>
                </a:solidFill>
              </a:rPr>
              <a:t>独特の特徴 ― キュウリのにおい</a:t>
            </a:r>
            <a:endParaRPr lang="en-US" sz="2800" dirty="0"/>
          </a:p>
        </p:txBody>
      </p:sp>
      <p:sp>
        <p:nvSpPr>
          <p:cNvPr id="10" name="Text 8"/>
          <p:cNvSpPr/>
          <p:nvPr/>
        </p:nvSpPr>
        <p:spPr>
          <a:xfrm>
            <a:off x="640080" y="1188720"/>
            <a:ext cx="5943600" cy="2743200"/>
          </a:xfrm>
          <a:prstGeom prst="rect">
            <a:avLst/>
          </a:prstGeom>
          <a:noFill/>
          <a:ln/>
        </p:spPr>
        <p:txBody>
          <a:bodyPr wrap="square" rtlCol="0" anchor="t"/>
          <a:lstStyle/>
          <a:p>
            <a:pPr marL="342900" indent="-342900">
              <a:lnSpc>
                <a:spcPct val="140000"/>
              </a:lnSpc>
              <a:buSzPct val="100000"/>
              <a:buFont typeface="+mj-lt"/>
              <a:buAutoNum type="arabicPeriod" startAt="1"/>
            </a:pPr>
            <a:r>
              <a:rPr lang="en-US" sz="1600" dirty="0">
                <a:solidFill>
                  <a:srgbClr val="111827"/>
                </a:solidFill>
              </a:rPr>
              <a:t>新鮮な個体をすりつぶすと、キュウリに似た独特のにおいが強くなります</a:t>
            </a:r>
            <a:endParaRPr lang="en-US" sz="1600" dirty="0"/>
          </a:p>
          <a:p>
            <a:pPr marL="342900" indent="-342900">
              <a:lnSpc>
                <a:spcPct val="140000"/>
              </a:lnSpc>
              <a:spcBef>
                <a:spcPts val="800"/>
              </a:spcBef>
              <a:buSzPct val="100000"/>
              <a:buFont typeface="+mj-lt"/>
              <a:buAutoNum type="arabicPeriod" startAt="1"/>
            </a:pPr>
            <a:r>
              <a:rPr lang="en-US" sz="1600" dirty="0">
                <a:solidFill>
                  <a:srgbClr val="111827"/>
                </a:solidFill>
              </a:rPr>
              <a:t>におい物質は2種類の化合物で構成されています</a:t>
            </a:r>
            <a:endParaRPr lang="en-US" sz="1600" dirty="0"/>
          </a:p>
          <a:p>
            <a:pPr marL="342900" indent="-342900">
              <a:lnSpc>
                <a:spcPct val="140000"/>
              </a:lnSpc>
              <a:spcBef>
                <a:spcPts val="800"/>
              </a:spcBef>
              <a:buSzPct val="100000"/>
              <a:buFont typeface="+mj-lt"/>
              <a:buAutoNum type="arabicPeriod" startAt="1"/>
            </a:pPr>
            <a:r>
              <a:rPr lang="en-US" sz="1600" dirty="0">
                <a:solidFill>
                  <a:srgbClr val="111827"/>
                </a:solidFill>
              </a:rPr>
              <a:t>人間にはキュウリのにおいに似た香りとして感じられます</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0" y="1371600"/>
          <a:ext cx="4846320" cy="914400"/>
        </p:xfrm>
        <a:graphic>
          <a:graphicData uri="http://schemas.openxmlformats.org/drawingml/2006/table">
            <a:tbl>
              <a:tblPr/>
              <a:tblGrid>
                <a:gridCol w="2011680"/>
                <a:gridCol w="1188720"/>
                <a:gridCol w="1645920"/>
              </a:tblGrid>
              <a:tr h="502920">
                <a:tc>
                  <a:txBody>
                    <a:bodyPr/>
                    <a:lstStyle/>
                    <a:p>
                      <a:pPr algn="ctr" indent="0" marL="0">
                        <a:buNone/>
                      </a:pPr>
                      <a:r>
                        <a:rPr lang="en-US" sz="1100" b="1" dirty="0">
                          <a:solidFill>
                            <a:srgbClr val="FFFFFF"/>
                          </a:solidFill>
                        </a:rPr>
                        <a:t>におい物質</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4F46E5"/>
                    </a:solidFill>
                  </a:tcPr>
                </a:tc>
                <a:tc>
                  <a:txBody>
                    <a:bodyPr/>
                    <a:lstStyle/>
                    <a:p>
                      <a:pPr algn="ctr" indent="0" marL="0">
                        <a:buNone/>
                      </a:pPr>
                      <a:r>
                        <a:rPr lang="en-US" sz="1100" b="1" dirty="0">
                          <a:solidFill>
                            <a:srgbClr val="FFFFFF"/>
                          </a:solidFill>
                        </a:rPr>
                        <a:t>濃度 (ppm)</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4F46E5"/>
                    </a:solidFill>
                  </a:tcPr>
                </a:tc>
                <a:tc>
                  <a:txBody>
                    <a:bodyPr/>
                    <a:lstStyle/>
                    <a:p>
                      <a:pPr algn="ctr" indent="0" marL="0">
                        <a:buNone/>
                      </a:pPr>
                      <a:r>
                        <a:rPr lang="en-US" sz="1100" b="1" dirty="0">
                          <a:solidFill>
                            <a:srgbClr val="FFFFFF"/>
                          </a:solidFill>
                        </a:rPr>
                        <a:t>特徴</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4F46E5"/>
                    </a:solidFill>
                  </a:tcPr>
                </a:tc>
              </a:tr>
              <a:tr h="502920">
                <a:tc>
                  <a:txBody>
                    <a:bodyPr/>
                    <a:lstStyle/>
                    <a:p>
                      <a:pPr indent="0" marL="0">
                        <a:buNone/>
                      </a:pPr>
                      <a:r>
                        <a:rPr lang="en-US" sz="1100" b="1" dirty="0">
                          <a:solidFill>
                            <a:srgbClr val="111827"/>
                          </a:solidFill>
                        </a:rPr>
                        <a:t>(E)-2-nonenal</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100" dirty="0">
                          <a:solidFill>
                            <a:srgbClr val="111827"/>
                          </a:solidFill>
                        </a:rPr>
                        <a:t>0.22</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100" dirty="0">
                          <a:solidFill>
                            <a:srgbClr val="6B7280"/>
                          </a:solidFill>
                        </a:rPr>
                        <a:t>主要なにおい成分</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r>
              <a:tr h="502920">
                <a:tc>
                  <a:txBody>
                    <a:bodyPr/>
                    <a:lstStyle/>
                    <a:p>
                      <a:pPr indent="0" marL="0">
                        <a:buNone/>
                      </a:pPr>
                      <a:r>
                        <a:rPr lang="en-US" sz="1100" b="1" dirty="0">
                          <a:solidFill>
                            <a:srgbClr val="111827"/>
                          </a:solidFill>
                        </a:rPr>
                        <a:t>(E,Z)-2,6-nonadienal</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11827"/>
                          </a:solidFill>
                        </a:rPr>
                        <a:t>0.03</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6B7280"/>
                          </a:solidFill>
                        </a:rPr>
                        <a:t>補助的なにおい成分</a:t>
                      </a:r>
                      <a:endParaRPr lang="en-US" sz="1100" dirty="0"/>
                    </a:p>
                  </a:txBody>
                  <a:tcPr marL="91440" marR="91440" marT="45720" marB="45720" anchor="mid">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12" name="Shape 9"/>
          <p:cNvSpPr/>
          <p:nvPr/>
        </p:nvSpPr>
        <p:spPr>
          <a:xfrm>
            <a:off x="6858000" y="3017520"/>
            <a:ext cx="4846320" cy="1280160"/>
          </a:xfrm>
          <a:prstGeom prst="roundRect">
            <a:avLst/>
          </a:prstGeom>
          <a:solidFill>
            <a:srgbClr val="ECFDF5"/>
          </a:solidFill>
          <a:ln w="12700">
            <a:solidFill>
              <a:srgbClr val="10B981"/>
            </a:solidFill>
            <a:prstDash val="solid"/>
          </a:ln>
        </p:spPr>
      </p:sp>
      <p:sp>
        <p:nvSpPr>
          <p:cNvPr id="13" name="Text 10"/>
          <p:cNvSpPr/>
          <p:nvPr/>
        </p:nvSpPr>
        <p:spPr>
          <a:xfrm>
            <a:off x="7040880" y="3108960"/>
            <a:ext cx="4480560" cy="365760"/>
          </a:xfrm>
          <a:prstGeom prst="rect">
            <a:avLst/>
          </a:prstGeom>
          <a:noFill/>
          <a:ln/>
        </p:spPr>
        <p:txBody>
          <a:bodyPr wrap="square" rtlCol="0" anchor="ctr"/>
          <a:lstStyle/>
          <a:p>
            <a:pPr indent="0" marL="0">
              <a:buNone/>
            </a:pPr>
            <a:r>
              <a:rPr lang="en-US" sz="1400" b="1" dirty="0">
                <a:solidFill>
                  <a:srgbClr val="065F46"/>
                </a:solidFill>
              </a:rPr>
              <a:t>🥒 キュウリの香り</a:t>
            </a:r>
            <a:endParaRPr lang="en-US" sz="1400" dirty="0"/>
          </a:p>
        </p:txBody>
      </p:sp>
      <p:sp>
        <p:nvSpPr>
          <p:cNvPr id="14" name="Text 11"/>
          <p:cNvSpPr/>
          <p:nvPr/>
        </p:nvSpPr>
        <p:spPr>
          <a:xfrm>
            <a:off x="7040880" y="3520440"/>
            <a:ext cx="4480560" cy="640080"/>
          </a:xfrm>
          <a:prstGeom prst="rect">
            <a:avLst/>
          </a:prstGeom>
          <a:noFill/>
          <a:ln/>
        </p:spPr>
        <p:txBody>
          <a:bodyPr wrap="square" rtlCol="0" anchor="ctr"/>
          <a:lstStyle/>
          <a:p>
            <a:pPr indent="0" marL="0">
              <a:lnSpc>
                <a:spcPct val="130000"/>
              </a:lnSpc>
              <a:buNone/>
            </a:pPr>
            <a:r>
              <a:rPr lang="en-US" sz="1200" dirty="0">
                <a:solidFill>
                  <a:srgbClr val="6B7280"/>
                </a:solidFill>
              </a:rPr>
              <a:t>すりつぶすと、これらの化合物が</a:t>
            </a:r>
            <a:endParaRPr lang="en-US" sz="1200" dirty="0"/>
          </a:p>
          <a:p>
            <a:pPr indent="0" marL="0">
              <a:lnSpc>
                <a:spcPct val="130000"/>
              </a:lnSpc>
              <a:buNone/>
            </a:pPr>
            <a:r>
              <a:rPr lang="en-US" sz="1200" dirty="0">
                <a:solidFill>
                  <a:srgbClr val="6B7280"/>
                </a:solidFill>
              </a:rPr>
              <a:t>放出されキュウリに似た香りがします</a:t>
            </a:r>
            <a:endParaRPr lang="en-US" sz="1200" dirty="0"/>
          </a:p>
        </p:txBody>
      </p:sp>
      <p:sp>
        <p:nvSpPr>
          <p:cNvPr id="15" name="Shape 12"/>
          <p:cNvSpPr/>
          <p:nvPr/>
        </p:nvSpPr>
        <p:spPr>
          <a:xfrm>
            <a:off x="548640" y="5303520"/>
            <a:ext cx="11094415" cy="731520"/>
          </a:xfrm>
          <a:prstGeom prst="roundRect">
            <a:avLst/>
          </a:prstGeom>
          <a:solidFill>
            <a:srgbClr val="EEF2FF"/>
          </a:solidFill>
          <a:ln w="12700">
            <a:solidFill>
              <a:srgbClr val="C7D2FE"/>
            </a:solidFill>
            <a:prstDash val="solid"/>
          </a:ln>
        </p:spPr>
      </p:sp>
      <p:sp>
        <p:nvSpPr>
          <p:cNvPr id="16" name="Text 13"/>
          <p:cNvSpPr/>
          <p:nvPr/>
        </p:nvSpPr>
        <p:spPr>
          <a:xfrm>
            <a:off x="731520" y="5394960"/>
            <a:ext cx="10820095" cy="548640"/>
          </a:xfrm>
          <a:prstGeom prst="rect">
            <a:avLst/>
          </a:prstGeom>
          <a:noFill/>
          <a:ln/>
        </p:spPr>
        <p:txBody>
          <a:bodyPr wrap="square" rtlCol="0" anchor="ctr"/>
          <a:lstStyle/>
          <a:p>
            <a:pPr indent="0" marL="0">
              <a:buNone/>
            </a:pPr>
            <a:r>
              <a:rPr lang="en-US" sz="1200" dirty="0">
                <a:solidFill>
                  <a:srgbClr val="3730A3"/>
                </a:solidFill>
              </a:rPr>
              <a:t>💡 カミクラゲはキュウリに似た独特のにおいを持ち、2種類の化学物質がその原因です。</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914400"/>
          </a:xfrm>
          <a:prstGeom prst="rect">
            <a:avLst/>
          </a:prstGeom>
          <a:solidFill>
            <a:srgbClr val="0D4F6F"/>
          </a:solidFill>
          <a:ln/>
        </p:spPr>
      </p:sp>
      <p:sp>
        <p:nvSpPr>
          <p:cNvPr id="4" name="Text 2"/>
          <p:cNvSpPr/>
          <p:nvPr/>
        </p:nvSpPr>
        <p:spPr>
          <a:xfrm>
            <a:off x="457200" y="182880"/>
            <a:ext cx="548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5" name="Text 3"/>
          <p:cNvSpPr/>
          <p:nvPr/>
        </p:nvSpPr>
        <p:spPr>
          <a:xfrm>
            <a:off x="1097280" y="137160"/>
            <a:ext cx="9905695" cy="640080"/>
          </a:xfrm>
          <a:prstGeom prst="rect">
            <a:avLst/>
          </a:prstGeom>
          <a:noFill/>
          <a:ln/>
        </p:spPr>
        <p:txBody>
          <a:bodyPr wrap="square" rtlCol="0" anchor="ctr"/>
          <a:lstStyle/>
          <a:p>
            <a:pPr indent="0" marL="0">
              <a:buNone/>
            </a:pPr>
            <a:r>
              <a:rPr lang="en-US" sz="2800" b="1" dirty="0">
                <a:solidFill>
                  <a:srgbClr val="FFFFFF"/>
                </a:solidFill>
              </a:rPr>
              <a:t>カミクラゲの生態</a:t>
            </a:r>
            <a:endParaRPr lang="en-US" sz="2800" dirty="0"/>
          </a:p>
        </p:txBody>
      </p:sp>
      <p:sp>
        <p:nvSpPr>
          <p:cNvPr id="6" name="Shape 4"/>
          <p:cNvSpPr/>
          <p:nvPr/>
        </p:nvSpPr>
        <p:spPr>
          <a:xfrm>
            <a:off x="11460175" y="228600"/>
            <a:ext cx="457200" cy="457200"/>
          </a:xfrm>
          <a:prstGeom prst="ellipse">
            <a:avLst/>
          </a:prstGeom>
          <a:solidFill>
            <a:srgbClr val="FFFFFF"/>
          </a:solidFill>
          <a:ln/>
        </p:spPr>
      </p:sp>
      <p:sp>
        <p:nvSpPr>
          <p:cNvPr id="7" name="Text 5"/>
          <p:cNvSpPr/>
          <p:nvPr/>
        </p:nvSpPr>
        <p:spPr>
          <a:xfrm>
            <a:off x="11460175" y="228600"/>
            <a:ext cx="457200" cy="457200"/>
          </a:xfrm>
          <a:prstGeom prst="rect">
            <a:avLst/>
          </a:prstGeom>
          <a:noFill/>
          <a:ln/>
        </p:spPr>
        <p:txBody>
          <a:bodyPr wrap="square" rtlCol="0" anchor="ctr"/>
          <a:lstStyle/>
          <a:p>
            <a:pPr algn="ctr" indent="0" marL="0">
              <a:buNone/>
            </a:pPr>
            <a:r>
              <a:rPr lang="en-US" sz="1400" b="1" dirty="0">
                <a:solidFill>
                  <a:srgbClr val="0D4F6F"/>
                </a:solidFill>
              </a:rPr>
              <a:t>4</a:t>
            </a:r>
            <a:endParaRPr lang="en-US" sz="1400" dirty="0"/>
          </a:p>
        </p:txBody>
      </p:sp>
      <p:sp>
        <p:nvSpPr>
          <p:cNvPr id="8" name="Shape 6"/>
          <p:cNvSpPr/>
          <p:nvPr/>
        </p:nvSpPr>
        <p:spPr>
          <a:xfrm>
            <a:off x="585216" y="1408176"/>
            <a:ext cx="3566160" cy="3474720"/>
          </a:xfrm>
          <a:prstGeom prst="rect">
            <a:avLst/>
          </a:prstGeom>
          <a:solidFill>
            <a:srgbClr val="E5E7EB"/>
          </a:solidFill>
          <a:ln/>
        </p:spPr>
      </p:sp>
      <p:sp>
        <p:nvSpPr>
          <p:cNvPr id="9" name="Shape 7"/>
          <p:cNvSpPr/>
          <p:nvPr/>
        </p:nvSpPr>
        <p:spPr>
          <a:xfrm>
            <a:off x="548640" y="1371600"/>
            <a:ext cx="3566160" cy="3474720"/>
          </a:xfrm>
          <a:prstGeom prst="rect">
            <a:avLst/>
          </a:prstGeom>
          <a:solidFill>
            <a:srgbClr val="FFFFFF"/>
          </a:solidFill>
          <a:ln w="12700">
            <a:solidFill>
              <a:srgbClr val="E5E7EB"/>
            </a:solidFill>
            <a:prstDash val="solid"/>
          </a:ln>
        </p:spPr>
      </p:sp>
      <p:sp>
        <p:nvSpPr>
          <p:cNvPr id="10" name="Shape 8"/>
          <p:cNvSpPr/>
          <p:nvPr/>
        </p:nvSpPr>
        <p:spPr>
          <a:xfrm>
            <a:off x="548640" y="1371600"/>
            <a:ext cx="109728" cy="3474720"/>
          </a:xfrm>
          <a:prstGeom prst="rect">
            <a:avLst/>
          </a:prstGeom>
          <a:solidFill>
            <a:srgbClr val="F4A261"/>
          </a:solidFill>
          <a:ln/>
        </p:spPr>
      </p:sp>
      <p:sp>
        <p:nvSpPr>
          <p:cNvPr id="11" name="Shape 9"/>
          <p:cNvSpPr/>
          <p:nvPr/>
        </p:nvSpPr>
        <p:spPr>
          <a:xfrm>
            <a:off x="914400" y="1737360"/>
            <a:ext cx="640080" cy="640080"/>
          </a:xfrm>
          <a:prstGeom prst="ellipse">
            <a:avLst/>
          </a:prstGeom>
          <a:solidFill>
            <a:srgbClr val="F9FAFB"/>
          </a:solidFill>
          <a:ln/>
        </p:spPr>
      </p:sp>
      <p:sp>
        <p:nvSpPr>
          <p:cNvPr id="12" name="Text 10"/>
          <p:cNvSpPr/>
          <p:nvPr/>
        </p:nvSpPr>
        <p:spPr>
          <a:xfrm>
            <a:off x="914400" y="17373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1737360" y="1783080"/>
            <a:ext cx="2103120" cy="457200"/>
          </a:xfrm>
          <a:prstGeom prst="rect">
            <a:avLst/>
          </a:prstGeom>
          <a:noFill/>
          <a:ln/>
        </p:spPr>
        <p:txBody>
          <a:bodyPr wrap="square" rtlCol="0" anchor="ctr"/>
          <a:lstStyle/>
          <a:p>
            <a:pPr indent="0" marL="0">
              <a:buNone/>
            </a:pPr>
            <a:r>
              <a:rPr lang="en-US" sz="1800" b="1" dirty="0">
                <a:solidFill>
                  <a:srgbClr val="111827"/>
                </a:solidFill>
              </a:rPr>
              <a:t>春を告げるクラゲ</a:t>
            </a:r>
            <a:endParaRPr lang="en-US" sz="1800" dirty="0"/>
          </a:p>
        </p:txBody>
      </p:sp>
      <p:sp>
        <p:nvSpPr>
          <p:cNvPr id="14" name="Text 12"/>
          <p:cNvSpPr/>
          <p:nvPr/>
        </p:nvSpPr>
        <p:spPr>
          <a:xfrm>
            <a:off x="868680" y="2651760"/>
            <a:ext cx="3017520" cy="1828800"/>
          </a:xfrm>
          <a:prstGeom prst="rect">
            <a:avLst/>
          </a:prstGeom>
          <a:noFill/>
          <a:ln/>
        </p:spPr>
        <p:txBody>
          <a:bodyPr wrap="square" rtlCol="0" anchor="t"/>
          <a:lstStyle/>
          <a:p>
            <a:pPr indent="0" marL="0">
              <a:lnSpc>
                <a:spcPct val="140000"/>
              </a:lnSpc>
              <a:buNone/>
            </a:pPr>
            <a:r>
              <a:rPr lang="en-US" sz="1400" dirty="0">
                <a:solidFill>
                  <a:srgbClr val="6B7280"/>
                </a:solidFill>
              </a:rPr>
              <a:t>春先に各地の海で採集され、「春を告げるクラゲ」として水族館に展示されることもあります。</a:t>
            </a:r>
            <a:endParaRPr lang="en-US" sz="1400" dirty="0"/>
          </a:p>
        </p:txBody>
      </p:sp>
      <p:sp>
        <p:nvSpPr>
          <p:cNvPr id="15" name="Shape 13"/>
          <p:cNvSpPr/>
          <p:nvPr/>
        </p:nvSpPr>
        <p:spPr>
          <a:xfrm>
            <a:off x="4562856" y="1408176"/>
            <a:ext cx="3566160" cy="3474720"/>
          </a:xfrm>
          <a:prstGeom prst="rect">
            <a:avLst/>
          </a:prstGeom>
          <a:solidFill>
            <a:srgbClr val="E5E7EB"/>
          </a:solidFill>
          <a:ln/>
        </p:spPr>
      </p:sp>
      <p:sp>
        <p:nvSpPr>
          <p:cNvPr id="16" name="Shape 14"/>
          <p:cNvSpPr/>
          <p:nvPr/>
        </p:nvSpPr>
        <p:spPr>
          <a:xfrm>
            <a:off x="4526280" y="1371600"/>
            <a:ext cx="3566160" cy="3474720"/>
          </a:xfrm>
          <a:prstGeom prst="rect">
            <a:avLst/>
          </a:prstGeom>
          <a:solidFill>
            <a:srgbClr val="FFFFFF"/>
          </a:solidFill>
          <a:ln w="12700">
            <a:solidFill>
              <a:srgbClr val="E5E7EB"/>
            </a:solidFill>
            <a:prstDash val="solid"/>
          </a:ln>
        </p:spPr>
      </p:sp>
      <p:sp>
        <p:nvSpPr>
          <p:cNvPr id="17" name="Shape 15"/>
          <p:cNvSpPr/>
          <p:nvPr/>
        </p:nvSpPr>
        <p:spPr>
          <a:xfrm>
            <a:off x="4526280" y="1371600"/>
            <a:ext cx="109728" cy="3474720"/>
          </a:xfrm>
          <a:prstGeom prst="rect">
            <a:avLst/>
          </a:prstGeom>
          <a:solidFill>
            <a:srgbClr val="6BB8C9"/>
          </a:solidFill>
          <a:ln/>
        </p:spPr>
      </p:sp>
      <p:sp>
        <p:nvSpPr>
          <p:cNvPr id="18" name="Shape 16"/>
          <p:cNvSpPr/>
          <p:nvPr/>
        </p:nvSpPr>
        <p:spPr>
          <a:xfrm>
            <a:off x="4892040" y="1737360"/>
            <a:ext cx="640080" cy="640080"/>
          </a:xfrm>
          <a:prstGeom prst="ellipse">
            <a:avLst/>
          </a:prstGeom>
          <a:solidFill>
            <a:srgbClr val="F9FAFB"/>
          </a:solidFill>
          <a:ln/>
        </p:spPr>
      </p:sp>
      <p:sp>
        <p:nvSpPr>
          <p:cNvPr id="19" name="Text 17"/>
          <p:cNvSpPr/>
          <p:nvPr/>
        </p:nvSpPr>
        <p:spPr>
          <a:xfrm>
            <a:off x="4892040" y="17373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0" name="Text 18"/>
          <p:cNvSpPr/>
          <p:nvPr/>
        </p:nvSpPr>
        <p:spPr>
          <a:xfrm>
            <a:off x="5715000" y="1783080"/>
            <a:ext cx="2103120" cy="457200"/>
          </a:xfrm>
          <a:prstGeom prst="rect">
            <a:avLst/>
          </a:prstGeom>
          <a:noFill/>
          <a:ln/>
        </p:spPr>
        <p:txBody>
          <a:bodyPr wrap="square" rtlCol="0" anchor="ctr"/>
          <a:lstStyle/>
          <a:p>
            <a:pPr indent="0" marL="0">
              <a:buNone/>
            </a:pPr>
            <a:r>
              <a:rPr lang="en-US" sz="1800" b="1" dirty="0">
                <a:solidFill>
                  <a:srgbClr val="111827"/>
                </a:solidFill>
              </a:rPr>
              <a:t>視覚と行動</a:t>
            </a:r>
            <a:endParaRPr lang="en-US" sz="1800" dirty="0"/>
          </a:p>
        </p:txBody>
      </p:sp>
      <p:sp>
        <p:nvSpPr>
          <p:cNvPr id="21" name="Text 19"/>
          <p:cNvSpPr/>
          <p:nvPr/>
        </p:nvSpPr>
        <p:spPr>
          <a:xfrm>
            <a:off x="4846320" y="2651760"/>
            <a:ext cx="3017520" cy="1828800"/>
          </a:xfrm>
          <a:prstGeom prst="rect">
            <a:avLst/>
          </a:prstGeom>
          <a:noFill/>
          <a:ln/>
        </p:spPr>
        <p:txBody>
          <a:bodyPr wrap="square" rtlCol="0" anchor="t"/>
          <a:lstStyle/>
          <a:p>
            <a:pPr indent="0" marL="0">
              <a:lnSpc>
                <a:spcPct val="140000"/>
              </a:lnSpc>
              <a:buNone/>
            </a:pPr>
            <a:r>
              <a:rPr lang="en-US" sz="1400" dirty="0">
                <a:solidFill>
                  <a:srgbClr val="6B7280"/>
                </a:solidFill>
              </a:rPr>
              <a:t>目で天敵を察知して逃げることや、日暮れ後に産卵する習性があるとされています。</a:t>
            </a:r>
            <a:endParaRPr lang="en-US" sz="1400" dirty="0"/>
          </a:p>
        </p:txBody>
      </p:sp>
      <p:sp>
        <p:nvSpPr>
          <p:cNvPr id="22" name="Shape 20"/>
          <p:cNvSpPr/>
          <p:nvPr/>
        </p:nvSpPr>
        <p:spPr>
          <a:xfrm>
            <a:off x="8540496" y="1408176"/>
            <a:ext cx="3566160" cy="3474720"/>
          </a:xfrm>
          <a:prstGeom prst="rect">
            <a:avLst/>
          </a:prstGeom>
          <a:solidFill>
            <a:srgbClr val="E5E7EB"/>
          </a:solidFill>
          <a:ln/>
        </p:spPr>
      </p:sp>
      <p:sp>
        <p:nvSpPr>
          <p:cNvPr id="23" name="Shape 21"/>
          <p:cNvSpPr/>
          <p:nvPr/>
        </p:nvSpPr>
        <p:spPr>
          <a:xfrm>
            <a:off x="8503920" y="1371600"/>
            <a:ext cx="3566160" cy="3474720"/>
          </a:xfrm>
          <a:prstGeom prst="rect">
            <a:avLst/>
          </a:prstGeom>
          <a:solidFill>
            <a:srgbClr val="FFFFFF"/>
          </a:solidFill>
          <a:ln w="12700">
            <a:solidFill>
              <a:srgbClr val="E5E7EB"/>
            </a:solidFill>
            <a:prstDash val="solid"/>
          </a:ln>
        </p:spPr>
      </p:sp>
      <p:sp>
        <p:nvSpPr>
          <p:cNvPr id="24" name="Shape 22"/>
          <p:cNvSpPr/>
          <p:nvPr/>
        </p:nvSpPr>
        <p:spPr>
          <a:xfrm>
            <a:off x="8503920" y="1371600"/>
            <a:ext cx="109728" cy="3474720"/>
          </a:xfrm>
          <a:prstGeom prst="rect">
            <a:avLst/>
          </a:prstGeom>
          <a:solidFill>
            <a:srgbClr val="10B981"/>
          </a:solidFill>
          <a:ln/>
        </p:spPr>
      </p:sp>
      <p:sp>
        <p:nvSpPr>
          <p:cNvPr id="25" name="Shape 23"/>
          <p:cNvSpPr/>
          <p:nvPr/>
        </p:nvSpPr>
        <p:spPr>
          <a:xfrm>
            <a:off x="8869680" y="1737360"/>
            <a:ext cx="640080" cy="640080"/>
          </a:xfrm>
          <a:prstGeom prst="ellipse">
            <a:avLst/>
          </a:prstGeom>
          <a:solidFill>
            <a:srgbClr val="F9FAFB"/>
          </a:solidFill>
          <a:ln/>
        </p:spPr>
      </p:sp>
      <p:sp>
        <p:nvSpPr>
          <p:cNvPr id="26" name="Text 24"/>
          <p:cNvSpPr/>
          <p:nvPr/>
        </p:nvSpPr>
        <p:spPr>
          <a:xfrm>
            <a:off x="8869680" y="17373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7" name="Text 25"/>
          <p:cNvSpPr/>
          <p:nvPr/>
        </p:nvSpPr>
        <p:spPr>
          <a:xfrm>
            <a:off x="9692640" y="1783080"/>
            <a:ext cx="2103120" cy="457200"/>
          </a:xfrm>
          <a:prstGeom prst="rect">
            <a:avLst/>
          </a:prstGeom>
          <a:noFill/>
          <a:ln/>
        </p:spPr>
        <p:txBody>
          <a:bodyPr wrap="square" rtlCol="0" anchor="ctr"/>
          <a:lstStyle/>
          <a:p>
            <a:pPr indent="0" marL="0">
              <a:buNone/>
            </a:pPr>
            <a:r>
              <a:rPr lang="en-US" sz="1800" b="1" dirty="0">
                <a:solidFill>
                  <a:srgbClr val="111827"/>
                </a:solidFill>
              </a:rPr>
              <a:t>飼育の難しさ</a:t>
            </a:r>
            <a:endParaRPr lang="en-US" sz="1800" dirty="0"/>
          </a:p>
        </p:txBody>
      </p:sp>
      <p:sp>
        <p:nvSpPr>
          <p:cNvPr id="28" name="Text 26"/>
          <p:cNvSpPr/>
          <p:nvPr/>
        </p:nvSpPr>
        <p:spPr>
          <a:xfrm>
            <a:off x="8823960" y="2651760"/>
            <a:ext cx="3017520" cy="1828800"/>
          </a:xfrm>
          <a:prstGeom prst="rect">
            <a:avLst/>
          </a:prstGeom>
          <a:noFill/>
          <a:ln/>
        </p:spPr>
        <p:txBody>
          <a:bodyPr wrap="square" rtlCol="0" anchor="t"/>
          <a:lstStyle/>
          <a:p>
            <a:pPr indent="0" marL="0">
              <a:lnSpc>
                <a:spcPct val="140000"/>
              </a:lnSpc>
              <a:buNone/>
            </a:pPr>
            <a:r>
              <a:rPr lang="en-US" sz="1400" dirty="0">
                <a:solidFill>
                  <a:srgbClr val="6B7280"/>
                </a:solidFill>
              </a:rPr>
              <a:t>長期飼育は難しいため、採集された個体が水族館で展示されることが一般的です。</a:t>
            </a:r>
            <a:endParaRPr lang="en-US" sz="1400" dirty="0"/>
          </a:p>
        </p:txBody>
      </p:sp>
      <p:sp>
        <p:nvSpPr>
          <p:cNvPr id="29" name="Shape 27"/>
          <p:cNvSpPr/>
          <p:nvPr/>
        </p:nvSpPr>
        <p:spPr>
          <a:xfrm>
            <a:off x="548640" y="5303520"/>
            <a:ext cx="11094415" cy="731520"/>
          </a:xfrm>
          <a:prstGeom prst="roundRect">
            <a:avLst/>
          </a:prstGeom>
          <a:solidFill>
            <a:srgbClr val="EEF2FF"/>
          </a:solidFill>
          <a:ln w="12700">
            <a:solidFill>
              <a:srgbClr val="C7D2FE"/>
            </a:solidFill>
            <a:prstDash val="solid"/>
          </a:ln>
        </p:spPr>
      </p:sp>
      <p:sp>
        <p:nvSpPr>
          <p:cNvPr id="30" name="Text 28"/>
          <p:cNvSpPr/>
          <p:nvPr/>
        </p:nvSpPr>
        <p:spPr>
          <a:xfrm>
            <a:off x="731520" y="5394960"/>
            <a:ext cx="10820095" cy="548640"/>
          </a:xfrm>
          <a:prstGeom prst="rect">
            <a:avLst/>
          </a:prstGeom>
          <a:noFill/>
          <a:ln/>
        </p:spPr>
        <p:txBody>
          <a:bodyPr wrap="square" rtlCol="0" anchor="ctr"/>
          <a:lstStyle/>
          <a:p>
            <a:pPr indent="0" marL="0">
              <a:buNone/>
            </a:pPr>
            <a:r>
              <a:rPr lang="en-US" sz="1200" dirty="0">
                <a:solidFill>
                  <a:srgbClr val="3730A3"/>
                </a:solidFill>
              </a:rPr>
              <a:t>💡 春先に海で採集され水族館で展示される季節のクラゲ。視覚を持ち、長期飼育は困難です。</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73152"/>
          </a:xfrm>
          <a:prstGeom prst="rect">
            <a:avLst/>
          </a:prstGeom>
          <a:solidFill>
            <a:srgbClr val="8B5CF6"/>
          </a:solidFill>
          <a:ln/>
        </p:spPr>
      </p:sp>
      <p:sp>
        <p:nvSpPr>
          <p:cNvPr id="4" name="Shape 2"/>
          <p:cNvSpPr/>
          <p:nvPr/>
        </p:nvSpPr>
        <p:spPr>
          <a:xfrm>
            <a:off x="457200" y="320040"/>
            <a:ext cx="548640" cy="548640"/>
          </a:xfrm>
          <a:prstGeom prst="roundRect">
            <a:avLst/>
          </a:prstGeom>
          <a:solidFill>
            <a:srgbClr val="EDE9FE"/>
          </a:solidFill>
          <a:ln w="12700">
            <a:solidFill>
              <a:srgbClr val="8B5CF6"/>
            </a:solidFill>
            <a:prstDash val="solid"/>
          </a:ln>
        </p:spPr>
      </p:sp>
      <p:sp>
        <p:nvSpPr>
          <p:cNvPr id="5" name="Text 3"/>
          <p:cNvSpPr/>
          <p:nvPr/>
        </p:nvSpPr>
        <p:spPr>
          <a:xfrm>
            <a:off x="457200" y="365760"/>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6" name="Shape 4"/>
          <p:cNvSpPr/>
          <p:nvPr/>
        </p:nvSpPr>
        <p:spPr>
          <a:xfrm>
            <a:off x="11460175" y="320040"/>
            <a:ext cx="457200" cy="457200"/>
          </a:xfrm>
          <a:prstGeom prst="ellipse">
            <a:avLst/>
          </a:prstGeom>
          <a:solidFill>
            <a:srgbClr val="8B5CF6"/>
          </a:solidFill>
          <a:ln/>
        </p:spPr>
      </p:sp>
      <p:sp>
        <p:nvSpPr>
          <p:cNvPr id="7" name="Text 5"/>
          <p:cNvSpPr/>
          <p:nvPr/>
        </p:nvSpPr>
        <p:spPr>
          <a:xfrm>
            <a:off x="11460175" y="320040"/>
            <a:ext cx="457200" cy="457200"/>
          </a:xfrm>
          <a:prstGeom prst="rect">
            <a:avLst/>
          </a:prstGeom>
          <a:noFill/>
          <a:ln/>
        </p:spPr>
        <p:txBody>
          <a:bodyPr wrap="square" rtlCol="0" anchor="ctr"/>
          <a:lstStyle/>
          <a:p>
            <a:pPr algn="ctr" indent="0" marL="0">
              <a:buNone/>
            </a:pPr>
            <a:r>
              <a:rPr lang="en-US" sz="1400" b="1" dirty="0">
                <a:solidFill>
                  <a:srgbClr val="FFFFFF"/>
                </a:solidFill>
              </a:rPr>
              <a:t>5</a:t>
            </a:r>
            <a:endParaRPr lang="en-US" sz="1400" dirty="0"/>
          </a:p>
        </p:txBody>
      </p:sp>
      <p:sp>
        <p:nvSpPr>
          <p:cNvPr id="8" name="Text 6"/>
          <p:cNvSpPr/>
          <p:nvPr/>
        </p:nvSpPr>
        <p:spPr>
          <a:xfrm>
            <a:off x="1097280" y="274320"/>
            <a:ext cx="9905695" cy="685800"/>
          </a:xfrm>
          <a:prstGeom prst="rect">
            <a:avLst/>
          </a:prstGeom>
          <a:noFill/>
          <a:ln/>
        </p:spPr>
        <p:txBody>
          <a:bodyPr wrap="square" rtlCol="0" anchor="ctr"/>
          <a:lstStyle/>
          <a:p>
            <a:pPr indent="0" marL="0">
              <a:buNone/>
            </a:pPr>
            <a:r>
              <a:rPr lang="en-US" sz="2800" b="1" dirty="0">
                <a:solidFill>
                  <a:srgbClr val="111827"/>
                </a:solidFill>
              </a:rPr>
              <a:t>においの役割</a:t>
            </a:r>
            <a:endParaRPr lang="en-US" sz="2800" dirty="0"/>
          </a:p>
        </p:txBody>
      </p:sp>
      <p:sp>
        <p:nvSpPr>
          <p:cNvPr id="9" name="Shape 7"/>
          <p:cNvSpPr/>
          <p:nvPr/>
        </p:nvSpPr>
        <p:spPr>
          <a:xfrm>
            <a:off x="731520" y="1280160"/>
            <a:ext cx="5120640" cy="3657600"/>
          </a:xfrm>
          <a:prstGeom prst="roundRect">
            <a:avLst/>
          </a:prstGeom>
          <a:solidFill>
            <a:srgbClr val="FEF3C7"/>
          </a:solidFill>
          <a:ln w="25400">
            <a:solidFill>
              <a:srgbClr val="F59E0B"/>
            </a:solidFill>
            <a:prstDash val="solid"/>
          </a:ln>
        </p:spPr>
      </p:sp>
      <p:sp>
        <p:nvSpPr>
          <p:cNvPr id="10" name="Text 8"/>
          <p:cNvSpPr/>
          <p:nvPr/>
        </p:nvSpPr>
        <p:spPr>
          <a:xfrm>
            <a:off x="1097280" y="1554480"/>
            <a:ext cx="73152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1" name="Text 9"/>
          <p:cNvSpPr/>
          <p:nvPr/>
        </p:nvSpPr>
        <p:spPr>
          <a:xfrm>
            <a:off x="2011680" y="1645920"/>
            <a:ext cx="3474720" cy="548640"/>
          </a:xfrm>
          <a:prstGeom prst="rect">
            <a:avLst/>
          </a:prstGeom>
          <a:noFill/>
          <a:ln/>
        </p:spPr>
        <p:txBody>
          <a:bodyPr wrap="square" rtlCol="0" anchor="ctr"/>
          <a:lstStyle/>
          <a:p>
            <a:pPr indent="0" marL="0">
              <a:buNone/>
            </a:pPr>
            <a:r>
              <a:rPr lang="en-US" sz="2000" b="1" dirty="0">
                <a:solidFill>
                  <a:srgbClr val="92400E"/>
                </a:solidFill>
              </a:rPr>
              <a:t>防御物質としての役割</a:t>
            </a:r>
            <a:endParaRPr lang="en-US" sz="2000" dirty="0"/>
          </a:p>
        </p:txBody>
      </p:sp>
      <p:sp>
        <p:nvSpPr>
          <p:cNvPr id="12" name="Text 10"/>
          <p:cNvSpPr/>
          <p:nvPr/>
        </p:nvSpPr>
        <p:spPr>
          <a:xfrm>
            <a:off x="1005840" y="2560320"/>
            <a:ext cx="4572000" cy="2011680"/>
          </a:xfrm>
          <a:prstGeom prst="rect">
            <a:avLst/>
          </a:prstGeom>
          <a:noFill/>
          <a:ln/>
        </p:spPr>
        <p:txBody>
          <a:bodyPr wrap="square" rtlCol="0" anchor="t"/>
          <a:lstStyle/>
          <a:p>
            <a:pPr indent="0" marL="0">
              <a:lnSpc>
                <a:spcPct val="150000"/>
              </a:lnSpc>
              <a:buNone/>
            </a:pPr>
            <a:r>
              <a:rPr lang="en-US" sz="1500" dirty="0">
                <a:solidFill>
                  <a:srgbClr val="6B7280"/>
                </a:solidFill>
              </a:rPr>
              <a:t>キュウリのようなにおいは、捕食者や微生物に対する防御物質として機能している可能性があります。</a:t>
            </a:r>
            <a:endParaRPr lang="en-US" sz="1500" dirty="0"/>
          </a:p>
        </p:txBody>
      </p:sp>
      <p:sp>
        <p:nvSpPr>
          <p:cNvPr id="13" name="Shape 11"/>
          <p:cNvSpPr/>
          <p:nvPr/>
        </p:nvSpPr>
        <p:spPr>
          <a:xfrm>
            <a:off x="6309360" y="1280160"/>
            <a:ext cx="5120640" cy="3657600"/>
          </a:xfrm>
          <a:prstGeom prst="roundRect">
            <a:avLst/>
          </a:prstGeom>
          <a:solidFill>
            <a:srgbClr val="FCE7F3"/>
          </a:solidFill>
          <a:ln w="25400">
            <a:solidFill>
              <a:srgbClr val="EC4899"/>
            </a:solidFill>
            <a:prstDash val="solid"/>
          </a:ln>
        </p:spPr>
      </p:sp>
      <p:sp>
        <p:nvSpPr>
          <p:cNvPr id="14" name="Text 12"/>
          <p:cNvSpPr/>
          <p:nvPr/>
        </p:nvSpPr>
        <p:spPr>
          <a:xfrm>
            <a:off x="6675120" y="1554480"/>
            <a:ext cx="73152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5" name="Text 13"/>
          <p:cNvSpPr/>
          <p:nvPr/>
        </p:nvSpPr>
        <p:spPr>
          <a:xfrm>
            <a:off x="7589520" y="1645920"/>
            <a:ext cx="3657600" cy="548640"/>
          </a:xfrm>
          <a:prstGeom prst="rect">
            <a:avLst/>
          </a:prstGeom>
          <a:noFill/>
          <a:ln/>
        </p:spPr>
        <p:txBody>
          <a:bodyPr wrap="square" rtlCol="0" anchor="ctr"/>
          <a:lstStyle/>
          <a:p>
            <a:pPr indent="0" marL="0">
              <a:buNone/>
            </a:pPr>
            <a:r>
              <a:rPr lang="en-US" sz="2000" b="1" dirty="0">
                <a:solidFill>
                  <a:srgbClr val="831843"/>
                </a:solidFill>
              </a:rPr>
              <a:t>集合フェロモンとしての役割</a:t>
            </a:r>
            <a:endParaRPr lang="en-US" sz="2000" dirty="0"/>
          </a:p>
        </p:txBody>
      </p:sp>
      <p:sp>
        <p:nvSpPr>
          <p:cNvPr id="16" name="Text 14"/>
          <p:cNvSpPr/>
          <p:nvPr/>
        </p:nvSpPr>
        <p:spPr>
          <a:xfrm>
            <a:off x="6583680" y="2560320"/>
            <a:ext cx="4572000" cy="2011680"/>
          </a:xfrm>
          <a:prstGeom prst="rect">
            <a:avLst/>
          </a:prstGeom>
          <a:noFill/>
          <a:ln/>
        </p:spPr>
        <p:txBody>
          <a:bodyPr wrap="square" rtlCol="0" anchor="t"/>
          <a:lstStyle/>
          <a:p>
            <a:pPr indent="0" marL="0">
              <a:lnSpc>
                <a:spcPct val="150000"/>
              </a:lnSpc>
              <a:buNone/>
            </a:pPr>
            <a:r>
              <a:rPr lang="en-US" sz="1500" dirty="0">
                <a:solidFill>
                  <a:srgbClr val="6B7280"/>
                </a:solidFill>
              </a:rPr>
              <a:t>雌雄が近くに集まるための集合フェロモンとして機能している可能性も指摘されています。</a:t>
            </a:r>
            <a:endParaRPr lang="en-US" sz="1500" dirty="0"/>
          </a:p>
        </p:txBody>
      </p:sp>
      <p:sp>
        <p:nvSpPr>
          <p:cNvPr id="17" name="Shape 15"/>
          <p:cNvSpPr/>
          <p:nvPr/>
        </p:nvSpPr>
        <p:spPr>
          <a:xfrm>
            <a:off x="548640" y="5303520"/>
            <a:ext cx="11094415" cy="731520"/>
          </a:xfrm>
          <a:prstGeom prst="roundRect">
            <a:avLst/>
          </a:prstGeom>
          <a:solidFill>
            <a:srgbClr val="EEF2FF"/>
          </a:solidFill>
          <a:ln w="12700">
            <a:solidFill>
              <a:srgbClr val="C7D2FE"/>
            </a:solidFill>
            <a:prstDash val="solid"/>
          </a:ln>
        </p:spPr>
      </p:sp>
      <p:sp>
        <p:nvSpPr>
          <p:cNvPr id="18" name="Text 16"/>
          <p:cNvSpPr/>
          <p:nvPr/>
        </p:nvSpPr>
        <p:spPr>
          <a:xfrm>
            <a:off x="731520" y="5394960"/>
            <a:ext cx="10820095" cy="548640"/>
          </a:xfrm>
          <a:prstGeom prst="rect">
            <a:avLst/>
          </a:prstGeom>
          <a:noFill/>
          <a:ln/>
        </p:spPr>
        <p:txBody>
          <a:bodyPr wrap="square" rtlCol="0" anchor="ctr"/>
          <a:lstStyle/>
          <a:p>
            <a:pPr indent="0" marL="0">
              <a:buNone/>
            </a:pPr>
            <a:r>
              <a:rPr lang="en-US" sz="1200" dirty="0">
                <a:solidFill>
                  <a:srgbClr val="3730A3"/>
                </a:solidFill>
              </a:rPr>
              <a:t>💡 カミクラゲのにおいは「防御」と「繁殖」の2つの役割を果たしている可能性があります。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2FF"/>
          </a:solidFill>
          <a:ln/>
        </p:spPr>
      </p:sp>
      <p:sp>
        <p:nvSpPr>
          <p:cNvPr id="3" name="Shape 1"/>
          <p:cNvSpPr/>
          <p:nvPr/>
        </p:nvSpPr>
        <p:spPr>
          <a:xfrm>
            <a:off x="0" y="0"/>
            <a:ext cx="12191695" cy="137160"/>
          </a:xfrm>
          <a:prstGeom prst="rect">
            <a:avLst/>
          </a:prstGeom>
          <a:solidFill>
            <a:srgbClr val="4F46E5"/>
          </a:solidFill>
          <a:ln/>
        </p:spPr>
      </p:sp>
      <p:sp>
        <p:nvSpPr>
          <p:cNvPr id="4" name="Text 2"/>
          <p:cNvSpPr/>
          <p:nvPr/>
        </p:nvSpPr>
        <p:spPr>
          <a:xfrm>
            <a:off x="5730088" y="731520"/>
            <a:ext cx="731520" cy="73152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5" name="Text 3"/>
          <p:cNvSpPr/>
          <p:nvPr/>
        </p:nvSpPr>
        <p:spPr>
          <a:xfrm>
            <a:off x="914400" y="1463040"/>
            <a:ext cx="10362895" cy="731520"/>
          </a:xfrm>
          <a:prstGeom prst="rect">
            <a:avLst/>
          </a:prstGeom>
          <a:noFill/>
          <a:ln/>
        </p:spPr>
        <p:txBody>
          <a:bodyPr wrap="square" rtlCol="0" anchor="ctr"/>
          <a:lstStyle/>
          <a:p>
            <a:pPr algn="ctr" indent="0" marL="0">
              <a:buNone/>
            </a:pPr>
            <a:r>
              <a:rPr lang="en-US" sz="3600" b="1" dirty="0">
                <a:solidFill>
                  <a:srgbClr val="111827"/>
                </a:solidFill>
              </a:rPr>
              <a:t>まとめ</a:t>
            </a:r>
            <a:endParaRPr lang="en-US" sz="3600" dirty="0"/>
          </a:p>
        </p:txBody>
      </p:sp>
      <p:sp>
        <p:nvSpPr>
          <p:cNvPr id="6" name="Shape 4"/>
          <p:cNvSpPr/>
          <p:nvPr/>
        </p:nvSpPr>
        <p:spPr>
          <a:xfrm>
            <a:off x="1981048" y="2468880"/>
            <a:ext cx="8229600" cy="640080"/>
          </a:xfrm>
          <a:prstGeom prst="roundRect">
            <a:avLst/>
          </a:prstGeom>
          <a:solidFill>
            <a:srgbClr val="FFFFFF"/>
          </a:solidFill>
          <a:ln w="12700">
            <a:solidFill>
              <a:srgbClr val="C7D2FE"/>
            </a:solidFill>
            <a:prstDash val="solid"/>
          </a:ln>
        </p:spPr>
      </p:sp>
      <p:sp>
        <p:nvSpPr>
          <p:cNvPr id="7" name="Text 5"/>
          <p:cNvSpPr/>
          <p:nvPr/>
        </p:nvSpPr>
        <p:spPr>
          <a:xfrm>
            <a:off x="2163928" y="2468880"/>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2804008" y="2468880"/>
            <a:ext cx="7132320" cy="640080"/>
          </a:xfrm>
          <a:prstGeom prst="rect">
            <a:avLst/>
          </a:prstGeom>
          <a:noFill/>
          <a:ln/>
        </p:spPr>
        <p:txBody>
          <a:bodyPr wrap="square" rtlCol="0" anchor="ctr"/>
          <a:lstStyle/>
          <a:p>
            <a:pPr indent="0" marL="0">
              <a:buNone/>
            </a:pPr>
            <a:r>
              <a:rPr lang="en-US" sz="1500" dirty="0">
                <a:solidFill>
                  <a:srgbClr val="111827"/>
                </a:solidFill>
              </a:rPr>
              <a:t>髪の毛のような触手が特徴的で「カミクラゲ」と命名</a:t>
            </a:r>
            <a:endParaRPr lang="en-US" sz="1500" dirty="0"/>
          </a:p>
        </p:txBody>
      </p:sp>
      <p:sp>
        <p:nvSpPr>
          <p:cNvPr id="9" name="Shape 7"/>
          <p:cNvSpPr/>
          <p:nvPr/>
        </p:nvSpPr>
        <p:spPr>
          <a:xfrm>
            <a:off x="1981048" y="3291840"/>
            <a:ext cx="8229600" cy="640080"/>
          </a:xfrm>
          <a:prstGeom prst="roundRect">
            <a:avLst/>
          </a:prstGeom>
          <a:solidFill>
            <a:srgbClr val="FFFFFF"/>
          </a:solidFill>
          <a:ln w="12700">
            <a:solidFill>
              <a:srgbClr val="C7D2FE"/>
            </a:solidFill>
            <a:prstDash val="solid"/>
          </a:ln>
        </p:spPr>
      </p:sp>
      <p:sp>
        <p:nvSpPr>
          <p:cNvPr id="10" name="Text 8"/>
          <p:cNvSpPr/>
          <p:nvPr/>
        </p:nvSpPr>
        <p:spPr>
          <a:xfrm>
            <a:off x="2163928" y="3291840"/>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2804008" y="3291840"/>
            <a:ext cx="7132320" cy="640080"/>
          </a:xfrm>
          <a:prstGeom prst="rect">
            <a:avLst/>
          </a:prstGeom>
          <a:noFill/>
          <a:ln/>
        </p:spPr>
        <p:txBody>
          <a:bodyPr wrap="square" rtlCol="0" anchor="ctr"/>
          <a:lstStyle/>
          <a:p>
            <a:pPr indent="0" marL="0">
              <a:buNone/>
            </a:pPr>
            <a:r>
              <a:rPr lang="en-US" sz="1500" dirty="0">
                <a:solidFill>
                  <a:srgbClr val="111827"/>
                </a:solidFill>
              </a:rPr>
              <a:t>日本・韓国の沿岸に生息、東京湾では1〜5月に出現</a:t>
            </a:r>
            <a:endParaRPr lang="en-US" sz="1500" dirty="0"/>
          </a:p>
        </p:txBody>
      </p:sp>
      <p:sp>
        <p:nvSpPr>
          <p:cNvPr id="12" name="Shape 10"/>
          <p:cNvSpPr/>
          <p:nvPr/>
        </p:nvSpPr>
        <p:spPr>
          <a:xfrm>
            <a:off x="1981048" y="4114800"/>
            <a:ext cx="8229600" cy="640080"/>
          </a:xfrm>
          <a:prstGeom prst="roundRect">
            <a:avLst/>
          </a:prstGeom>
          <a:solidFill>
            <a:srgbClr val="FFFFFF"/>
          </a:solidFill>
          <a:ln w="12700">
            <a:solidFill>
              <a:srgbClr val="C7D2FE"/>
            </a:solidFill>
            <a:prstDash val="solid"/>
          </a:ln>
        </p:spPr>
      </p:sp>
      <p:sp>
        <p:nvSpPr>
          <p:cNvPr id="13" name="Text 11"/>
          <p:cNvSpPr/>
          <p:nvPr/>
        </p:nvSpPr>
        <p:spPr>
          <a:xfrm>
            <a:off x="2163928" y="4114800"/>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4" name="Text 12"/>
          <p:cNvSpPr/>
          <p:nvPr/>
        </p:nvSpPr>
        <p:spPr>
          <a:xfrm>
            <a:off x="2804008" y="4114800"/>
            <a:ext cx="7132320" cy="640080"/>
          </a:xfrm>
          <a:prstGeom prst="rect">
            <a:avLst/>
          </a:prstGeom>
          <a:noFill/>
          <a:ln/>
        </p:spPr>
        <p:txBody>
          <a:bodyPr wrap="square" rtlCol="0" anchor="ctr"/>
          <a:lstStyle/>
          <a:p>
            <a:pPr indent="0" marL="0">
              <a:buNone/>
            </a:pPr>
            <a:r>
              <a:rPr lang="en-US" sz="1500" dirty="0">
                <a:solidFill>
                  <a:srgbClr val="111827"/>
                </a:solidFill>
              </a:rPr>
              <a:t>キュウリに似た独特のにおい（2種類の化合物）</a:t>
            </a:r>
            <a:endParaRPr lang="en-US" sz="1500" dirty="0"/>
          </a:p>
        </p:txBody>
      </p:sp>
      <p:sp>
        <p:nvSpPr>
          <p:cNvPr id="15" name="Shape 13"/>
          <p:cNvSpPr/>
          <p:nvPr/>
        </p:nvSpPr>
        <p:spPr>
          <a:xfrm>
            <a:off x="1981048" y="4937760"/>
            <a:ext cx="8229600" cy="640080"/>
          </a:xfrm>
          <a:prstGeom prst="roundRect">
            <a:avLst/>
          </a:prstGeom>
          <a:solidFill>
            <a:srgbClr val="FFFFFF"/>
          </a:solidFill>
          <a:ln w="12700">
            <a:solidFill>
              <a:srgbClr val="C7D2FE"/>
            </a:solidFill>
            <a:prstDash val="solid"/>
          </a:ln>
        </p:spPr>
      </p:sp>
      <p:sp>
        <p:nvSpPr>
          <p:cNvPr id="16" name="Text 14"/>
          <p:cNvSpPr/>
          <p:nvPr/>
        </p:nvSpPr>
        <p:spPr>
          <a:xfrm>
            <a:off x="2163928" y="4937760"/>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2804008" y="4937760"/>
            <a:ext cx="7132320" cy="640080"/>
          </a:xfrm>
          <a:prstGeom prst="rect">
            <a:avLst/>
          </a:prstGeom>
          <a:noFill/>
          <a:ln/>
        </p:spPr>
        <p:txBody>
          <a:bodyPr wrap="square" rtlCol="0" anchor="ctr"/>
          <a:lstStyle/>
          <a:p>
            <a:pPr indent="0" marL="0">
              <a:buNone/>
            </a:pPr>
            <a:r>
              <a:rPr lang="en-US" sz="1500" dirty="0">
                <a:solidFill>
                  <a:srgbClr val="111827"/>
                </a:solidFill>
              </a:rPr>
              <a:t>においは防御物質・集合フェロモンとして機能する可能性</a:t>
            </a:r>
            <a:endParaRPr lang="en-US" sz="1500" dirty="0"/>
          </a:p>
        </p:txBody>
      </p:sp>
      <p:sp>
        <p:nvSpPr>
          <p:cNvPr id="18" name="Shape 16"/>
          <p:cNvSpPr/>
          <p:nvPr/>
        </p:nvSpPr>
        <p:spPr>
          <a:xfrm>
            <a:off x="1981048" y="5760720"/>
            <a:ext cx="8229600" cy="640080"/>
          </a:xfrm>
          <a:prstGeom prst="roundRect">
            <a:avLst/>
          </a:prstGeom>
          <a:solidFill>
            <a:srgbClr val="FFFFFF"/>
          </a:solidFill>
          <a:ln w="12700">
            <a:solidFill>
              <a:srgbClr val="C7D2FE"/>
            </a:solidFill>
            <a:prstDash val="solid"/>
          </a:ln>
        </p:spPr>
      </p:sp>
      <p:sp>
        <p:nvSpPr>
          <p:cNvPr id="19" name="Text 17"/>
          <p:cNvSpPr/>
          <p:nvPr/>
        </p:nvSpPr>
        <p:spPr>
          <a:xfrm>
            <a:off x="2163928" y="5760720"/>
            <a:ext cx="548640" cy="6400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2804008" y="5760720"/>
            <a:ext cx="7132320" cy="640080"/>
          </a:xfrm>
          <a:prstGeom prst="rect">
            <a:avLst/>
          </a:prstGeom>
          <a:noFill/>
          <a:ln/>
        </p:spPr>
        <p:txBody>
          <a:bodyPr wrap="square" rtlCol="0" anchor="ctr"/>
          <a:lstStyle/>
          <a:p>
            <a:pPr indent="0" marL="0">
              <a:buNone/>
            </a:pPr>
            <a:r>
              <a:rPr lang="en-US" sz="1500" dirty="0">
                <a:solidFill>
                  <a:srgbClr val="111827"/>
                </a:solidFill>
              </a:rPr>
              <a:t>春を告げるクラゲとして水族館でも人気</a:t>
            </a:r>
            <a:endParaRPr lang="en-US" sz="1500" dirty="0"/>
          </a:p>
        </p:txBody>
      </p:sp>
      <p:sp>
        <p:nvSpPr>
          <p:cNvPr id="21" name="Shape 19"/>
          <p:cNvSpPr/>
          <p:nvPr/>
        </p:nvSpPr>
        <p:spPr>
          <a:xfrm>
            <a:off x="2743200" y="6126480"/>
            <a:ext cx="6705295" cy="18288"/>
          </a:xfrm>
          <a:prstGeom prst="rect">
            <a:avLst/>
          </a:prstGeom>
          <a:solidFill>
            <a:srgbClr val="C7D2FE"/>
          </a:solidFill>
          <a:ln/>
        </p:spPr>
      </p:sp>
      <p:sp>
        <p:nvSpPr>
          <p:cNvPr id="22" name="Text 20"/>
          <p:cNvSpPr/>
          <p:nvPr/>
        </p:nvSpPr>
        <p:spPr>
          <a:xfrm>
            <a:off x="914400" y="6263640"/>
            <a:ext cx="10362895" cy="320040"/>
          </a:xfrm>
          <a:prstGeom prst="rect">
            <a:avLst/>
          </a:prstGeom>
          <a:noFill/>
          <a:ln/>
        </p:spPr>
        <p:txBody>
          <a:bodyPr wrap="square" rtlCol="0" anchor="ctr"/>
          <a:lstStyle/>
          <a:p>
            <a:pPr algn="ctr" indent="0" marL="0">
              <a:buNone/>
            </a:pPr>
            <a:r>
              <a:rPr lang="en-US" sz="1200" dirty="0">
                <a:solidFill>
                  <a:srgbClr val="4F46E5"/>
                </a:solidFill>
              </a:rPr>
              <a:t>独特のにおいと優しい外見から「可愛い」として人気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カミクラゲの生態</dc:subject>
  <dc:creator>AI Assistant</dc:creator>
  <cp:lastModifiedBy>AI Assistant</cp:lastModifiedBy>
  <cp:revision>1</cp:revision>
  <dcterms:created xsi:type="dcterms:W3CDTF">2026-02-20T05:42:04Z</dcterms:created>
  <dcterms:modified xsi:type="dcterms:W3CDTF">2026-02-20T05:42:04Z</dcterms:modified>
</cp:coreProperties>
</file>